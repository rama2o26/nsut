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30275784" cy="42803064"/>
  <p:notesSz cx="42803064" cy="30275784"/>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THIS TEMPLATE
1. Poster size is A0 portrait (841 x 1189 mm). Do not change the slide size; if your department prints at a different size, scale proportionally in Design &gt; Slide Size.
2. Replace all grey placeholder text and dashed figure boxes with your own content. Delete any section you do not need and resize neighbouring boxes.
3. Suggested minimum font sizes: title 60 pt, section headings 40 pt, body 28 pt, references 24 pt.
4. Replace title, authors, affiliations and presenter email. Underline or mark the presenting author.
5. Insert images at 300 dpi or higher. Avoid low-resolution screenshots.
6. Save a PDF copy before sending it for printing.
7. Keep the conference logos and footer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EFE2"/>
        </a:solidFill>
      </p:bgPr>
    </p:bg>
    <p:spTree>
      <p:nvGrpSpPr>
        <p:cNvPr id="1" name=""/>
        <p:cNvGrpSpPr/>
        <p:nvPr/>
      </p:nvGrpSpPr>
      <p:grpSpPr>
        <a:xfrm>
          <a:off x="0" y="0"/>
          <a:ext cx="0" cy="0"/>
          <a:chOff x="0" y="0"/>
          <a:chExt cx="0" cy="0"/>
        </a:xfrm>
      </p:grpSpPr>
      <p:sp>
        <p:nvSpPr>
          <p:cNvPr id="2" name="Shape 0"/>
          <p:cNvSpPr/>
          <p:nvPr/>
        </p:nvSpPr>
        <p:spPr>
          <a:xfrm>
            <a:off x="0" y="0"/>
            <a:ext cx="30275784" cy="5486400"/>
          </a:xfrm>
          <a:prstGeom prst="rect">
            <a:avLst/>
          </a:prstGeom>
          <a:solidFill>
            <a:srgbClr val="14213D"/>
          </a:solidFill>
          <a:ln w="12700">
            <a:solidFill>
              <a:srgbClr val="14213D"/>
            </a:solidFill>
            <a:prstDash val="solid"/>
          </a:ln>
        </p:spPr>
      </p:sp>
      <p:sp>
        <p:nvSpPr>
          <p:cNvPr id="3" name="Shape 1"/>
          <p:cNvSpPr/>
          <p:nvPr/>
        </p:nvSpPr>
        <p:spPr>
          <a:xfrm>
            <a:off x="1097280" y="731520"/>
            <a:ext cx="5120640" cy="4023360"/>
          </a:xfrm>
          <a:prstGeom prst="roundRect">
            <a:avLst>
              <a:gd name="adj" fmla="val 5682"/>
            </a:avLst>
          </a:prstGeom>
          <a:solidFill>
            <a:srgbClr val="FFFFFF"/>
          </a:solidFill>
          <a:ln w="25400">
            <a:solidFill>
              <a:srgbClr val="B08D45"/>
            </a:solidFill>
            <a:prstDash val="solid"/>
          </a:ln>
        </p:spPr>
      </p:sp>
      <p:pic>
        <p:nvPicPr>
          <p:cNvPr id="4" name="Image 0" descr="rama-logo.png">    </p:cNvPr>
          <p:cNvPicPr>
            <a:picLocks noChangeAspect="1"/>
          </p:cNvPicPr>
          <p:nvPr/>
        </p:nvPicPr>
        <p:blipFill>
          <a:blip r:embed="rId1"/>
          <a:stretch>
            <a:fillRect/>
          </a:stretch>
        </p:blipFill>
        <p:spPr>
          <a:xfrm>
            <a:off x="1371600" y="1005840"/>
            <a:ext cx="4572000" cy="3291840"/>
          </a:xfrm>
          <a:prstGeom prst="rect">
            <a:avLst/>
          </a:prstGeom>
        </p:spPr>
      </p:pic>
      <p:sp>
        <p:nvSpPr>
          <p:cNvPr id="5" name="Shape 2"/>
          <p:cNvSpPr/>
          <p:nvPr/>
        </p:nvSpPr>
        <p:spPr>
          <a:xfrm>
            <a:off x="25155144" y="731520"/>
            <a:ext cx="4023360" cy="4023360"/>
          </a:xfrm>
          <a:prstGeom prst="roundRect">
            <a:avLst>
              <a:gd name="adj" fmla="val 5682"/>
            </a:avLst>
          </a:prstGeom>
          <a:solidFill>
            <a:srgbClr val="FFFFFF"/>
          </a:solidFill>
          <a:ln w="25400">
            <a:solidFill>
              <a:srgbClr val="B08D45"/>
            </a:solidFill>
            <a:prstDash val="solid"/>
          </a:ln>
        </p:spPr>
      </p:sp>
      <p:pic>
        <p:nvPicPr>
          <p:cNvPr id="6" name="Image 1" descr="nsut-logo.png">    </p:cNvPr>
          <p:cNvPicPr>
            <a:picLocks noChangeAspect="1"/>
          </p:cNvPicPr>
          <p:nvPr/>
        </p:nvPicPr>
        <p:blipFill>
          <a:blip r:embed="rId2"/>
          <a:stretch>
            <a:fillRect/>
          </a:stretch>
        </p:blipFill>
        <p:spPr>
          <a:xfrm>
            <a:off x="25383744" y="960120"/>
            <a:ext cx="3566160" cy="3566160"/>
          </a:xfrm>
          <a:prstGeom prst="rect">
            <a:avLst/>
          </a:prstGeom>
        </p:spPr>
      </p:pic>
      <p:sp>
        <p:nvSpPr>
          <p:cNvPr id="7" name="Text 3"/>
          <p:cNvSpPr txBox="1"/>
          <p:nvPr/>
        </p:nvSpPr>
        <p:spPr>
          <a:xfrm>
            <a:off x="6766560" y="548640"/>
            <a:ext cx="17373600" cy="2377440"/>
          </a:xfrm>
          <a:prstGeom prst="rect">
            <a:avLst/>
          </a:prstGeom>
          <a:noFill/>
          <a:ln/>
        </p:spPr>
        <p:txBody>
          <a:bodyPr wrap="square" lIns="0" tIns="0" rIns="0" bIns="0" rtlCol="0" anchor="ctr"/>
          <a:lstStyle/>
          <a:p>
            <a:pPr algn="ctr" indent="0" marL="0">
              <a:buNone/>
            </a:pPr>
            <a:r>
              <a:rPr lang="en-US" sz="6000" b="1" dirty="0">
                <a:solidFill>
                  <a:srgbClr val="F3EFE2"/>
                </a:solidFill>
                <a:latin typeface="Cambria" pitchFamily="34" charset="0"/>
                <a:ea typeface="Cambria" pitchFamily="34" charset="-122"/>
                <a:cs typeface="Cambria" pitchFamily="34" charset="-120"/>
              </a:rPr>
              <a:t>Title of Your Poster Goes Here in Up to Two Lines</a:t>
            </a:r>
            <a:endParaRPr lang="en-US" sz="6000" dirty="0"/>
          </a:p>
        </p:txBody>
      </p:sp>
      <p:sp>
        <p:nvSpPr>
          <p:cNvPr id="8" name="Text 4"/>
          <p:cNvSpPr txBox="1"/>
          <p:nvPr/>
        </p:nvSpPr>
        <p:spPr>
          <a:xfrm>
            <a:off x="6766560" y="3017520"/>
            <a:ext cx="17373600" cy="914400"/>
          </a:xfrm>
          <a:prstGeom prst="rect">
            <a:avLst/>
          </a:prstGeom>
          <a:noFill/>
          <a:ln/>
        </p:spPr>
        <p:txBody>
          <a:bodyPr wrap="square" lIns="0" tIns="0" rIns="0" bIns="0" rtlCol="0" anchor="ctr"/>
          <a:lstStyle/>
          <a:p>
            <a:pPr algn="ctr" indent="0" marL="0">
              <a:buNone/>
            </a:pPr>
            <a:r>
              <a:rPr lang="en-US" sz="3600" b="1" dirty="0">
                <a:solidFill>
                  <a:srgbClr val="D4B96A"/>
                </a:solidFill>
                <a:latin typeface="Calibri" pitchFamily="34" charset="0"/>
                <a:ea typeface="Calibri" pitchFamily="34" charset="-122"/>
                <a:cs typeface="Calibri" pitchFamily="34" charset="-120"/>
              </a:rPr>
              <a:t>Author One, Author Two, Author Three</a:t>
            </a:r>
            <a:endParaRPr lang="en-US" sz="3600" dirty="0"/>
          </a:p>
        </p:txBody>
      </p:sp>
      <p:sp>
        <p:nvSpPr>
          <p:cNvPr id="9" name="Text 5"/>
          <p:cNvSpPr txBox="1"/>
          <p:nvPr/>
        </p:nvSpPr>
        <p:spPr>
          <a:xfrm>
            <a:off x="6766560" y="4023360"/>
            <a:ext cx="17373600" cy="822960"/>
          </a:xfrm>
          <a:prstGeom prst="rect">
            <a:avLst/>
          </a:prstGeom>
          <a:noFill/>
          <a:ln/>
        </p:spPr>
        <p:txBody>
          <a:bodyPr wrap="square" lIns="0" tIns="0" rIns="0" bIns="0" rtlCol="0" anchor="ctr"/>
          <a:lstStyle/>
          <a:p>
            <a:pPr algn="ctr" indent="0" marL="0">
              <a:buNone/>
            </a:pPr>
            <a:r>
              <a:rPr lang="en-US" sz="2800" dirty="0">
                <a:solidFill>
                  <a:srgbClr val="F3EFE2"/>
                </a:solidFill>
                <a:latin typeface="Calibri" pitchFamily="34" charset="0"/>
                <a:ea typeface="Calibri" pitchFamily="34" charset="-122"/>
                <a:cs typeface="Calibri" pitchFamily="34" charset="-120"/>
              </a:rPr>
              <a:t>Department, Institution, City, Country  ·  presenter@email.com</a:t>
            </a:r>
            <a:endParaRPr lang="en-US" sz="2800" dirty="0"/>
          </a:p>
        </p:txBody>
      </p:sp>
      <p:sp>
        <p:nvSpPr>
          <p:cNvPr id="10" name="Shape 6"/>
          <p:cNvSpPr/>
          <p:nvPr/>
        </p:nvSpPr>
        <p:spPr>
          <a:xfrm>
            <a:off x="1097280" y="6126480"/>
            <a:ext cx="8933688" cy="8595360"/>
          </a:xfrm>
          <a:prstGeom prst="roundRect">
            <a:avLst>
              <a:gd name="adj" fmla="val 2128"/>
            </a:avLst>
          </a:prstGeom>
          <a:solidFill>
            <a:srgbClr val="FFFFFF"/>
          </a:solidFill>
          <a:ln w="25400">
            <a:solidFill>
              <a:srgbClr val="DBD3B9"/>
            </a:solidFill>
            <a:prstDash val="solid"/>
          </a:ln>
        </p:spPr>
      </p:sp>
      <p:sp>
        <p:nvSpPr>
          <p:cNvPr id="11" name="Shape 7"/>
          <p:cNvSpPr/>
          <p:nvPr/>
        </p:nvSpPr>
        <p:spPr>
          <a:xfrm>
            <a:off x="1554480" y="6537960"/>
            <a:ext cx="914400" cy="914400"/>
          </a:xfrm>
          <a:prstGeom prst="ellipse">
            <a:avLst/>
          </a:prstGeom>
          <a:solidFill>
            <a:srgbClr val="B08D45"/>
          </a:solidFill>
          <a:ln w="12700">
            <a:solidFill>
              <a:srgbClr val="B08D45"/>
            </a:solidFill>
            <a:prstDash val="solid"/>
          </a:ln>
        </p:spPr>
      </p:sp>
      <p:sp>
        <p:nvSpPr>
          <p:cNvPr id="12" name="Text 8"/>
          <p:cNvSpPr txBox="1"/>
          <p:nvPr/>
        </p:nvSpPr>
        <p:spPr>
          <a:xfrm>
            <a:off x="1554480" y="6537960"/>
            <a:ext cx="914400" cy="914400"/>
          </a:xfrm>
          <a:prstGeom prst="rect">
            <a:avLst/>
          </a:prstGeom>
          <a:noFill/>
          <a:ln/>
        </p:spPr>
        <p:txBody>
          <a:bodyPr wrap="square" lIns="0" tIns="0" rIns="0" bIns="0" rtlCol="0" anchor="ctr"/>
          <a:lstStyle/>
          <a:p>
            <a:pPr algn="ctr" indent="0" marL="0">
              <a:buNone/>
            </a:pPr>
            <a:r>
              <a:rPr lang="en-US" sz="3200" b="1" dirty="0">
                <a:solidFill>
                  <a:srgbClr val="14213D"/>
                </a:solidFill>
                <a:latin typeface="Cambria" pitchFamily="34" charset="0"/>
                <a:ea typeface="Cambria" pitchFamily="34" charset="-122"/>
                <a:cs typeface="Cambria" pitchFamily="34" charset="-120"/>
              </a:rPr>
              <a:t>1</a:t>
            </a:r>
            <a:endParaRPr lang="en-US" sz="3200" dirty="0"/>
          </a:p>
        </p:txBody>
      </p:sp>
      <p:sp>
        <p:nvSpPr>
          <p:cNvPr id="13" name="Text 9"/>
          <p:cNvSpPr txBox="1"/>
          <p:nvPr/>
        </p:nvSpPr>
        <p:spPr>
          <a:xfrm>
            <a:off x="2743200" y="6537960"/>
            <a:ext cx="6830568" cy="914400"/>
          </a:xfrm>
          <a:prstGeom prst="rect">
            <a:avLst/>
          </a:prstGeom>
          <a:noFill/>
          <a:ln/>
        </p:spPr>
        <p:txBody>
          <a:bodyPr wrap="square" lIns="0" tIns="0" rIns="0" bIns="0" rtlCol="0" anchor="ctr"/>
          <a:lstStyle/>
          <a:p>
            <a:pPr algn="l" indent="0" marL="0">
              <a:buNone/>
            </a:pPr>
            <a:r>
              <a:rPr lang="en-US" sz="4000" b="1" dirty="0">
                <a:solidFill>
                  <a:srgbClr val="14213D"/>
                </a:solidFill>
                <a:latin typeface="Cambria" pitchFamily="34" charset="0"/>
                <a:ea typeface="Cambria" pitchFamily="34" charset="-122"/>
                <a:cs typeface="Cambria" pitchFamily="34" charset="-120"/>
              </a:rPr>
              <a:t>Abstract</a:t>
            </a:r>
            <a:endParaRPr lang="en-US" sz="4000" dirty="0"/>
          </a:p>
        </p:txBody>
      </p:sp>
      <p:sp>
        <p:nvSpPr>
          <p:cNvPr id="14" name="Text 10"/>
          <p:cNvSpPr txBox="1"/>
          <p:nvPr/>
        </p:nvSpPr>
        <p:spPr>
          <a:xfrm>
            <a:off x="1554480" y="7863840"/>
            <a:ext cx="8019288" cy="6400800"/>
          </a:xfrm>
          <a:prstGeom prst="rect">
            <a:avLst/>
          </a:prstGeom>
          <a:noFill/>
          <a:ln/>
        </p:spPr>
        <p:txBody>
          <a:bodyPr wrap="square" lIns="0" tIns="0" rIns="0" bIns="0" rtlCol="0" anchor="t"/>
          <a:lstStyle/>
          <a:p>
            <a:pPr algn="l" indent="0" marL="0">
              <a:buNone/>
            </a:pPr>
            <a:r>
              <a:rPr lang="en-US" sz="2800" dirty="0">
                <a:solidFill>
                  <a:srgbClr val="5B5747"/>
                </a:solidFill>
                <a:latin typeface="Calibri" pitchFamily="34" charset="0"/>
                <a:ea typeface="Calibri" pitchFamily="34" charset="-122"/>
                <a:cs typeface="Calibri" pitchFamily="34" charset="-120"/>
              </a:rPr>
              <a:t>Summarise your work in 150–200 words: the problem you study, the method you use, your main result, and why it matters. Keep it self-contained so a reader can follow it without the rest of the poster.</a:t>
            </a:r>
            <a:endParaRPr lang="en-US" sz="2800" dirty="0"/>
          </a:p>
        </p:txBody>
      </p:sp>
      <p:sp>
        <p:nvSpPr>
          <p:cNvPr id="15" name="Shape 11"/>
          <p:cNvSpPr/>
          <p:nvPr/>
        </p:nvSpPr>
        <p:spPr>
          <a:xfrm>
            <a:off x="1097280" y="15361920"/>
            <a:ext cx="8933688" cy="11887200"/>
          </a:xfrm>
          <a:prstGeom prst="roundRect">
            <a:avLst>
              <a:gd name="adj" fmla="val 2047"/>
            </a:avLst>
          </a:prstGeom>
          <a:solidFill>
            <a:srgbClr val="FFFFFF"/>
          </a:solidFill>
          <a:ln w="25400">
            <a:solidFill>
              <a:srgbClr val="DBD3B9"/>
            </a:solidFill>
            <a:prstDash val="solid"/>
          </a:ln>
        </p:spPr>
      </p:sp>
      <p:sp>
        <p:nvSpPr>
          <p:cNvPr id="16" name="Shape 12"/>
          <p:cNvSpPr/>
          <p:nvPr/>
        </p:nvSpPr>
        <p:spPr>
          <a:xfrm>
            <a:off x="1554480" y="15773400"/>
            <a:ext cx="914400" cy="914400"/>
          </a:xfrm>
          <a:prstGeom prst="ellipse">
            <a:avLst/>
          </a:prstGeom>
          <a:solidFill>
            <a:srgbClr val="B08D45"/>
          </a:solidFill>
          <a:ln w="12700">
            <a:solidFill>
              <a:srgbClr val="B08D45"/>
            </a:solidFill>
            <a:prstDash val="solid"/>
          </a:ln>
        </p:spPr>
      </p:sp>
      <p:sp>
        <p:nvSpPr>
          <p:cNvPr id="17" name="Text 13"/>
          <p:cNvSpPr txBox="1"/>
          <p:nvPr/>
        </p:nvSpPr>
        <p:spPr>
          <a:xfrm>
            <a:off x="1554480" y="15773400"/>
            <a:ext cx="914400" cy="914400"/>
          </a:xfrm>
          <a:prstGeom prst="rect">
            <a:avLst/>
          </a:prstGeom>
          <a:noFill/>
          <a:ln/>
        </p:spPr>
        <p:txBody>
          <a:bodyPr wrap="square" lIns="0" tIns="0" rIns="0" bIns="0" rtlCol="0" anchor="ctr"/>
          <a:lstStyle/>
          <a:p>
            <a:pPr algn="ctr" indent="0" marL="0">
              <a:buNone/>
            </a:pPr>
            <a:r>
              <a:rPr lang="en-US" sz="3200" b="1" dirty="0">
                <a:solidFill>
                  <a:srgbClr val="14213D"/>
                </a:solidFill>
                <a:latin typeface="Cambria" pitchFamily="34" charset="0"/>
                <a:ea typeface="Cambria" pitchFamily="34" charset="-122"/>
                <a:cs typeface="Cambria" pitchFamily="34" charset="-120"/>
              </a:rPr>
              <a:t>2</a:t>
            </a:r>
            <a:endParaRPr lang="en-US" sz="3200" dirty="0"/>
          </a:p>
        </p:txBody>
      </p:sp>
      <p:sp>
        <p:nvSpPr>
          <p:cNvPr id="18" name="Text 14"/>
          <p:cNvSpPr txBox="1"/>
          <p:nvPr/>
        </p:nvSpPr>
        <p:spPr>
          <a:xfrm>
            <a:off x="2743200" y="15773400"/>
            <a:ext cx="6830568" cy="914400"/>
          </a:xfrm>
          <a:prstGeom prst="rect">
            <a:avLst/>
          </a:prstGeom>
          <a:noFill/>
          <a:ln/>
        </p:spPr>
        <p:txBody>
          <a:bodyPr wrap="square" lIns="0" tIns="0" rIns="0" bIns="0" rtlCol="0" anchor="ctr"/>
          <a:lstStyle/>
          <a:p>
            <a:pPr algn="l" indent="0" marL="0">
              <a:buNone/>
            </a:pPr>
            <a:r>
              <a:rPr lang="en-US" sz="4000" b="1" dirty="0">
                <a:solidFill>
                  <a:srgbClr val="14213D"/>
                </a:solidFill>
                <a:latin typeface="Cambria" pitchFamily="34" charset="0"/>
                <a:ea typeface="Cambria" pitchFamily="34" charset="-122"/>
                <a:cs typeface="Cambria" pitchFamily="34" charset="-120"/>
              </a:rPr>
              <a:t>Introduction &amp; Objectives</a:t>
            </a:r>
            <a:endParaRPr lang="en-US" sz="4000" dirty="0"/>
          </a:p>
        </p:txBody>
      </p:sp>
      <p:sp>
        <p:nvSpPr>
          <p:cNvPr id="19" name="Text 15"/>
          <p:cNvSpPr txBox="1"/>
          <p:nvPr/>
        </p:nvSpPr>
        <p:spPr>
          <a:xfrm>
            <a:off x="1554480" y="17099280"/>
            <a:ext cx="8019288" cy="9601200"/>
          </a:xfrm>
          <a:prstGeom prst="rect">
            <a:avLst/>
          </a:prstGeom>
          <a:noFill/>
          <a:ln/>
        </p:spPr>
        <p:txBody>
          <a:bodyPr wrap="square" lIns="0" tIns="0" rIns="0" bIns="0" rtlCol="0" anchor="t"/>
          <a:lstStyle/>
          <a:p>
            <a:pPr algn="l" marL="342900" indent="-342900">
              <a:spcAft>
                <a:spcPts val="1000"/>
              </a:spcAft>
              <a:buSzPct val="100000"/>
              <a:buChar char="•"/>
            </a:pPr>
            <a:r>
              <a:rPr lang="en-US" sz="2800" dirty="0">
                <a:solidFill>
                  <a:srgbClr val="5B5747"/>
                </a:solidFill>
                <a:latin typeface="Calibri" pitchFamily="34" charset="0"/>
                <a:ea typeface="Calibri" pitchFamily="34" charset="-122"/>
                <a:cs typeface="Calibri" pitchFamily="34" charset="-120"/>
              </a:rPr>
              <a:t>Background and motivation for the problem</a:t>
            </a:r>
            <a:endParaRPr lang="en-US" sz="2800" dirty="0"/>
          </a:p>
          <a:p>
            <a:pPr algn="l" marL="342900" indent="-342900">
              <a:spcAft>
                <a:spcPts val="1000"/>
              </a:spcAft>
              <a:buSzPct val="100000"/>
              <a:buChar char="•"/>
            </a:pPr>
            <a:r>
              <a:rPr lang="en-US" sz="2800" dirty="0">
                <a:solidFill>
                  <a:srgbClr val="5B5747"/>
                </a:solidFill>
                <a:latin typeface="Calibri" pitchFamily="34" charset="0"/>
                <a:ea typeface="Calibri" pitchFamily="34" charset="-122"/>
                <a:cs typeface="Calibri" pitchFamily="34" charset="-120"/>
              </a:rPr>
              <a:t>Research gap or limitation of existing work</a:t>
            </a:r>
            <a:endParaRPr lang="en-US" sz="2800" dirty="0"/>
          </a:p>
          <a:p>
            <a:pPr algn="l" marL="342900" indent="-342900">
              <a:spcAft>
                <a:spcPts val="1000"/>
              </a:spcAft>
              <a:buSzPct val="100000"/>
              <a:buChar char="•"/>
            </a:pPr>
            <a:r>
              <a:rPr lang="en-US" sz="2800" dirty="0">
                <a:solidFill>
                  <a:srgbClr val="5B5747"/>
                </a:solidFill>
                <a:latin typeface="Calibri" pitchFamily="34" charset="0"/>
                <a:ea typeface="Calibri" pitchFamily="34" charset="-122"/>
                <a:cs typeface="Calibri" pitchFamily="34" charset="-120"/>
              </a:rPr>
              <a:t>Objectives of this study</a:t>
            </a:r>
            <a:endParaRPr lang="en-US" sz="2800" dirty="0"/>
          </a:p>
          <a:p>
            <a:pPr algn="l" marL="342900" indent="-342900">
              <a:spcAft>
                <a:spcPts val="1000"/>
              </a:spcAft>
              <a:buSzPct val="100000"/>
              <a:buChar char="•"/>
            </a:pPr>
            <a:r>
              <a:rPr lang="en-US" sz="2800" dirty="0">
                <a:solidFill>
                  <a:srgbClr val="5B5747"/>
                </a:solidFill>
                <a:latin typeface="Calibri" pitchFamily="34" charset="0"/>
                <a:ea typeface="Calibri" pitchFamily="34" charset="-122"/>
                <a:cs typeface="Calibri" pitchFamily="34" charset="-120"/>
              </a:rPr>
              <a:t>Key contributions in one or two lines</a:t>
            </a:r>
            <a:endParaRPr lang="en-US" sz="2800" dirty="0"/>
          </a:p>
        </p:txBody>
      </p:sp>
      <p:sp>
        <p:nvSpPr>
          <p:cNvPr id="20" name="Shape 16"/>
          <p:cNvSpPr/>
          <p:nvPr/>
        </p:nvSpPr>
        <p:spPr>
          <a:xfrm>
            <a:off x="1097280" y="27889200"/>
            <a:ext cx="8933688" cy="12344400"/>
          </a:xfrm>
          <a:prstGeom prst="roundRect">
            <a:avLst>
              <a:gd name="adj" fmla="val 2047"/>
            </a:avLst>
          </a:prstGeom>
          <a:solidFill>
            <a:srgbClr val="FFFFFF"/>
          </a:solidFill>
          <a:ln w="25400">
            <a:solidFill>
              <a:srgbClr val="DBD3B9"/>
            </a:solidFill>
            <a:prstDash val="solid"/>
          </a:ln>
        </p:spPr>
      </p:sp>
      <p:sp>
        <p:nvSpPr>
          <p:cNvPr id="21" name="Shape 17"/>
          <p:cNvSpPr/>
          <p:nvPr/>
        </p:nvSpPr>
        <p:spPr>
          <a:xfrm>
            <a:off x="1554480" y="28300680"/>
            <a:ext cx="914400" cy="914400"/>
          </a:xfrm>
          <a:prstGeom prst="ellipse">
            <a:avLst/>
          </a:prstGeom>
          <a:solidFill>
            <a:srgbClr val="B08D45"/>
          </a:solidFill>
          <a:ln w="12700">
            <a:solidFill>
              <a:srgbClr val="B08D45"/>
            </a:solidFill>
            <a:prstDash val="solid"/>
          </a:ln>
        </p:spPr>
      </p:sp>
      <p:sp>
        <p:nvSpPr>
          <p:cNvPr id="22" name="Text 18"/>
          <p:cNvSpPr txBox="1"/>
          <p:nvPr/>
        </p:nvSpPr>
        <p:spPr>
          <a:xfrm>
            <a:off x="1554480" y="28300680"/>
            <a:ext cx="914400" cy="914400"/>
          </a:xfrm>
          <a:prstGeom prst="rect">
            <a:avLst/>
          </a:prstGeom>
          <a:noFill/>
          <a:ln/>
        </p:spPr>
        <p:txBody>
          <a:bodyPr wrap="square" lIns="0" tIns="0" rIns="0" bIns="0" rtlCol="0" anchor="ctr"/>
          <a:lstStyle/>
          <a:p>
            <a:pPr algn="ctr" indent="0" marL="0">
              <a:buNone/>
            </a:pPr>
            <a:r>
              <a:rPr lang="en-US" sz="3200" b="1" dirty="0">
                <a:solidFill>
                  <a:srgbClr val="14213D"/>
                </a:solidFill>
                <a:latin typeface="Cambria" pitchFamily="34" charset="0"/>
                <a:ea typeface="Cambria" pitchFamily="34" charset="-122"/>
                <a:cs typeface="Cambria" pitchFamily="34" charset="-120"/>
              </a:rPr>
              <a:t>3</a:t>
            </a:r>
            <a:endParaRPr lang="en-US" sz="3200" dirty="0"/>
          </a:p>
        </p:txBody>
      </p:sp>
      <p:sp>
        <p:nvSpPr>
          <p:cNvPr id="23" name="Text 19"/>
          <p:cNvSpPr txBox="1"/>
          <p:nvPr/>
        </p:nvSpPr>
        <p:spPr>
          <a:xfrm>
            <a:off x="2743200" y="28300680"/>
            <a:ext cx="6830568" cy="914400"/>
          </a:xfrm>
          <a:prstGeom prst="rect">
            <a:avLst/>
          </a:prstGeom>
          <a:noFill/>
          <a:ln/>
        </p:spPr>
        <p:txBody>
          <a:bodyPr wrap="square" lIns="0" tIns="0" rIns="0" bIns="0" rtlCol="0" anchor="ctr"/>
          <a:lstStyle/>
          <a:p>
            <a:pPr algn="l" indent="0" marL="0">
              <a:buNone/>
            </a:pPr>
            <a:r>
              <a:rPr lang="en-US" sz="4000" b="1" dirty="0">
                <a:solidFill>
                  <a:srgbClr val="14213D"/>
                </a:solidFill>
                <a:latin typeface="Cambria" pitchFamily="34" charset="0"/>
                <a:ea typeface="Cambria" pitchFamily="34" charset="-122"/>
                <a:cs typeface="Cambria" pitchFamily="34" charset="-120"/>
              </a:rPr>
              <a:t>Methodology</a:t>
            </a:r>
            <a:endParaRPr lang="en-US" sz="4000" dirty="0"/>
          </a:p>
        </p:txBody>
      </p:sp>
      <p:sp>
        <p:nvSpPr>
          <p:cNvPr id="24" name="Text 20"/>
          <p:cNvSpPr txBox="1"/>
          <p:nvPr/>
        </p:nvSpPr>
        <p:spPr>
          <a:xfrm>
            <a:off x="1554480" y="29626560"/>
            <a:ext cx="8019288" cy="3291840"/>
          </a:xfrm>
          <a:prstGeom prst="rect">
            <a:avLst/>
          </a:prstGeom>
          <a:noFill/>
          <a:ln/>
        </p:spPr>
        <p:txBody>
          <a:bodyPr wrap="square" lIns="0" tIns="0" rIns="0" bIns="0" rtlCol="0" anchor="t"/>
          <a:lstStyle/>
          <a:p>
            <a:pPr algn="l" marL="342900" indent="-342900">
              <a:spcAft>
                <a:spcPts val="1000"/>
              </a:spcAft>
              <a:buSzPct val="100000"/>
              <a:buChar char="•"/>
            </a:pPr>
            <a:r>
              <a:rPr lang="en-US" sz="2800" dirty="0">
                <a:solidFill>
                  <a:srgbClr val="5B5747"/>
                </a:solidFill>
                <a:latin typeface="Calibri" pitchFamily="34" charset="0"/>
                <a:ea typeface="Calibri" pitchFamily="34" charset="-122"/>
                <a:cs typeface="Calibri" pitchFamily="34" charset="-120"/>
              </a:rPr>
              <a:t>Mathematical model or formulation</a:t>
            </a:r>
            <a:endParaRPr lang="en-US" sz="2800" dirty="0"/>
          </a:p>
          <a:p>
            <a:pPr algn="l" marL="342900" indent="-342900">
              <a:spcAft>
                <a:spcPts val="1000"/>
              </a:spcAft>
              <a:buSzPct val="100000"/>
              <a:buChar char="•"/>
            </a:pPr>
            <a:r>
              <a:rPr lang="en-US" sz="2800" dirty="0">
                <a:solidFill>
                  <a:srgbClr val="5B5747"/>
                </a:solidFill>
                <a:latin typeface="Calibri" pitchFamily="34" charset="0"/>
                <a:ea typeface="Calibri" pitchFamily="34" charset="-122"/>
                <a:cs typeface="Calibri" pitchFamily="34" charset="-120"/>
              </a:rPr>
              <a:t>Numerical or analytical technique used</a:t>
            </a:r>
            <a:endParaRPr lang="en-US" sz="2800" dirty="0"/>
          </a:p>
        </p:txBody>
      </p:sp>
      <p:sp>
        <p:nvSpPr>
          <p:cNvPr id="25" name="Shape 21"/>
          <p:cNvSpPr/>
          <p:nvPr/>
        </p:nvSpPr>
        <p:spPr>
          <a:xfrm>
            <a:off x="1554480" y="33192720"/>
            <a:ext cx="8019288" cy="6126480"/>
          </a:xfrm>
          <a:prstGeom prst="rect">
            <a:avLst/>
          </a:prstGeom>
          <a:solidFill>
            <a:srgbClr val="F3EFE2"/>
          </a:solidFill>
          <a:ln w="31750">
            <a:solidFill>
              <a:srgbClr val="B08D45"/>
            </a:solidFill>
            <a:prstDash val="dash"/>
          </a:ln>
        </p:spPr>
      </p:sp>
      <p:sp>
        <p:nvSpPr>
          <p:cNvPr id="26" name="Text 22"/>
          <p:cNvSpPr txBox="1"/>
          <p:nvPr/>
        </p:nvSpPr>
        <p:spPr>
          <a:xfrm>
            <a:off x="1554480" y="33192720"/>
            <a:ext cx="8019288" cy="6126480"/>
          </a:xfrm>
          <a:prstGeom prst="rect">
            <a:avLst/>
          </a:prstGeom>
          <a:noFill/>
          <a:ln/>
        </p:spPr>
        <p:txBody>
          <a:bodyPr wrap="square" lIns="3810" tIns="3810" rIns="3810" bIns="3810" rtlCol="0" anchor="ctr"/>
          <a:lstStyle/>
          <a:p>
            <a:pPr algn="ctr" indent="0" marL="0">
              <a:buNone/>
            </a:pPr>
            <a:r>
              <a:rPr lang="en-US" sz="2800" i="1" dirty="0">
                <a:solidFill>
                  <a:srgbClr val="5B5747"/>
                </a:solidFill>
                <a:latin typeface="Calibri" pitchFamily="34" charset="0"/>
                <a:ea typeface="Calibri" pitchFamily="34" charset="-122"/>
                <a:cs typeface="Calibri" pitchFamily="34" charset="-120"/>
              </a:rPr>
              <a:t>Insert flowchart, algorithm or diagram here</a:t>
            </a:r>
            <a:endParaRPr lang="en-US" sz="2800" dirty="0"/>
          </a:p>
        </p:txBody>
      </p:sp>
      <p:sp>
        <p:nvSpPr>
          <p:cNvPr id="27" name="Shape 23"/>
          <p:cNvSpPr/>
          <p:nvPr/>
        </p:nvSpPr>
        <p:spPr>
          <a:xfrm>
            <a:off x="10671048" y="6126480"/>
            <a:ext cx="8933688" cy="16733520"/>
          </a:xfrm>
          <a:prstGeom prst="roundRect">
            <a:avLst>
              <a:gd name="adj" fmla="val 2047"/>
            </a:avLst>
          </a:prstGeom>
          <a:solidFill>
            <a:srgbClr val="FFFFFF"/>
          </a:solidFill>
          <a:ln w="25400">
            <a:solidFill>
              <a:srgbClr val="DBD3B9"/>
            </a:solidFill>
            <a:prstDash val="solid"/>
          </a:ln>
        </p:spPr>
      </p:sp>
      <p:sp>
        <p:nvSpPr>
          <p:cNvPr id="28" name="Shape 24"/>
          <p:cNvSpPr/>
          <p:nvPr/>
        </p:nvSpPr>
        <p:spPr>
          <a:xfrm>
            <a:off x="11128248" y="6537960"/>
            <a:ext cx="914400" cy="914400"/>
          </a:xfrm>
          <a:prstGeom prst="ellipse">
            <a:avLst/>
          </a:prstGeom>
          <a:solidFill>
            <a:srgbClr val="B08D45"/>
          </a:solidFill>
          <a:ln w="12700">
            <a:solidFill>
              <a:srgbClr val="B08D45"/>
            </a:solidFill>
            <a:prstDash val="solid"/>
          </a:ln>
        </p:spPr>
      </p:sp>
      <p:sp>
        <p:nvSpPr>
          <p:cNvPr id="29" name="Text 25"/>
          <p:cNvSpPr txBox="1"/>
          <p:nvPr/>
        </p:nvSpPr>
        <p:spPr>
          <a:xfrm>
            <a:off x="11128248" y="6537960"/>
            <a:ext cx="914400" cy="914400"/>
          </a:xfrm>
          <a:prstGeom prst="rect">
            <a:avLst/>
          </a:prstGeom>
          <a:noFill/>
          <a:ln/>
        </p:spPr>
        <p:txBody>
          <a:bodyPr wrap="square" lIns="0" tIns="0" rIns="0" bIns="0" rtlCol="0" anchor="ctr"/>
          <a:lstStyle/>
          <a:p>
            <a:pPr algn="ctr" indent="0" marL="0">
              <a:buNone/>
            </a:pPr>
            <a:r>
              <a:rPr lang="en-US" sz="3200" b="1" dirty="0">
                <a:solidFill>
                  <a:srgbClr val="14213D"/>
                </a:solidFill>
                <a:latin typeface="Cambria" pitchFamily="34" charset="0"/>
                <a:ea typeface="Cambria" pitchFamily="34" charset="-122"/>
                <a:cs typeface="Cambria" pitchFamily="34" charset="-120"/>
              </a:rPr>
              <a:t>4</a:t>
            </a:r>
            <a:endParaRPr lang="en-US" sz="3200" dirty="0"/>
          </a:p>
        </p:txBody>
      </p:sp>
      <p:sp>
        <p:nvSpPr>
          <p:cNvPr id="30" name="Text 26"/>
          <p:cNvSpPr txBox="1"/>
          <p:nvPr/>
        </p:nvSpPr>
        <p:spPr>
          <a:xfrm>
            <a:off x="12316968" y="6537960"/>
            <a:ext cx="6830568" cy="914400"/>
          </a:xfrm>
          <a:prstGeom prst="rect">
            <a:avLst/>
          </a:prstGeom>
          <a:noFill/>
          <a:ln/>
        </p:spPr>
        <p:txBody>
          <a:bodyPr wrap="square" lIns="0" tIns="0" rIns="0" bIns="0" rtlCol="0" anchor="ctr"/>
          <a:lstStyle/>
          <a:p>
            <a:pPr algn="l" indent="0" marL="0">
              <a:buNone/>
            </a:pPr>
            <a:r>
              <a:rPr lang="en-US" sz="4000" b="1" dirty="0">
                <a:solidFill>
                  <a:srgbClr val="14213D"/>
                </a:solidFill>
                <a:latin typeface="Cambria" pitchFamily="34" charset="0"/>
                <a:ea typeface="Cambria" pitchFamily="34" charset="-122"/>
                <a:cs typeface="Cambria" pitchFamily="34" charset="-120"/>
              </a:rPr>
              <a:t>Results &amp; Discussion</a:t>
            </a:r>
            <a:endParaRPr lang="en-US" sz="4000" dirty="0"/>
          </a:p>
        </p:txBody>
      </p:sp>
      <p:sp>
        <p:nvSpPr>
          <p:cNvPr id="31" name="Text 27"/>
          <p:cNvSpPr txBox="1"/>
          <p:nvPr/>
        </p:nvSpPr>
        <p:spPr>
          <a:xfrm>
            <a:off x="11128248" y="7863840"/>
            <a:ext cx="8019288" cy="3840480"/>
          </a:xfrm>
          <a:prstGeom prst="rect">
            <a:avLst/>
          </a:prstGeom>
          <a:noFill/>
          <a:ln/>
        </p:spPr>
        <p:txBody>
          <a:bodyPr wrap="square" lIns="0" tIns="0" rIns="0" bIns="0" rtlCol="0" anchor="t"/>
          <a:lstStyle/>
          <a:p>
            <a:pPr algn="l" marL="342900" indent="-342900">
              <a:spcAft>
                <a:spcPts val="1000"/>
              </a:spcAft>
              <a:buSzPct val="100000"/>
              <a:buChar char="•"/>
            </a:pPr>
            <a:r>
              <a:rPr lang="en-US" sz="2800" dirty="0">
                <a:solidFill>
                  <a:srgbClr val="5B5747"/>
                </a:solidFill>
                <a:latin typeface="Calibri" pitchFamily="34" charset="0"/>
                <a:ea typeface="Calibri" pitchFamily="34" charset="-122"/>
                <a:cs typeface="Calibri" pitchFamily="34" charset="-120"/>
              </a:rPr>
              <a:t>State the main findings clearly</a:t>
            </a:r>
            <a:endParaRPr lang="en-US" sz="2800" dirty="0"/>
          </a:p>
          <a:p>
            <a:pPr algn="l" marL="342900" indent="-342900">
              <a:spcAft>
                <a:spcPts val="1000"/>
              </a:spcAft>
              <a:buSzPct val="100000"/>
              <a:buChar char="•"/>
            </a:pPr>
            <a:r>
              <a:rPr lang="en-US" sz="2800" dirty="0">
                <a:solidFill>
                  <a:srgbClr val="5B5747"/>
                </a:solidFill>
                <a:latin typeface="Calibri" pitchFamily="34" charset="0"/>
                <a:ea typeface="Calibri" pitchFamily="34" charset="-122"/>
                <a:cs typeface="Calibri" pitchFamily="34" charset="-120"/>
              </a:rPr>
              <a:t>Compare with existing methods or exact solutions</a:t>
            </a:r>
            <a:endParaRPr lang="en-US" sz="2800" dirty="0"/>
          </a:p>
        </p:txBody>
      </p:sp>
      <p:sp>
        <p:nvSpPr>
          <p:cNvPr id="32" name="Shape 28"/>
          <p:cNvSpPr/>
          <p:nvPr/>
        </p:nvSpPr>
        <p:spPr>
          <a:xfrm>
            <a:off x="11128248" y="11978640"/>
            <a:ext cx="8019288" cy="10058400"/>
          </a:xfrm>
          <a:prstGeom prst="rect">
            <a:avLst/>
          </a:prstGeom>
          <a:solidFill>
            <a:srgbClr val="F3EFE2"/>
          </a:solidFill>
          <a:ln w="31750">
            <a:solidFill>
              <a:srgbClr val="B08D45"/>
            </a:solidFill>
            <a:prstDash val="dash"/>
          </a:ln>
        </p:spPr>
      </p:sp>
      <p:sp>
        <p:nvSpPr>
          <p:cNvPr id="33" name="Text 29"/>
          <p:cNvSpPr txBox="1"/>
          <p:nvPr/>
        </p:nvSpPr>
        <p:spPr>
          <a:xfrm>
            <a:off x="11128248" y="11978640"/>
            <a:ext cx="8019288" cy="10058400"/>
          </a:xfrm>
          <a:prstGeom prst="rect">
            <a:avLst/>
          </a:prstGeom>
          <a:noFill/>
          <a:ln/>
        </p:spPr>
        <p:txBody>
          <a:bodyPr wrap="square" lIns="3810" tIns="3810" rIns="3810" bIns="3810" rtlCol="0" anchor="ctr"/>
          <a:lstStyle/>
          <a:p>
            <a:pPr algn="ctr" indent="0" marL="0">
              <a:buNone/>
            </a:pPr>
            <a:r>
              <a:rPr lang="en-US" sz="2800" i="1" dirty="0">
                <a:solidFill>
                  <a:srgbClr val="5B5747"/>
                </a:solidFill>
                <a:latin typeface="Calibri" pitchFamily="34" charset="0"/>
                <a:ea typeface="Calibri" pitchFamily="34" charset="-122"/>
                <a:cs typeface="Calibri" pitchFamily="34" charset="-120"/>
              </a:rPr>
              <a:t>Insert main result figure here</a:t>
            </a:r>
            <a:endParaRPr lang="en-US" sz="2800" dirty="0"/>
          </a:p>
          <a:p>
            <a:pPr algn="ctr" indent="0" marL="0">
              <a:buNone/>
            </a:pPr>
            <a:r>
              <a:rPr lang="en-US" sz="2800" i="1" dirty="0">
                <a:solidFill>
                  <a:srgbClr val="5B5747"/>
                </a:solidFill>
                <a:latin typeface="Calibri" pitchFamily="34" charset="0"/>
                <a:ea typeface="Calibri" pitchFamily="34" charset="-122"/>
                <a:cs typeface="Calibri" pitchFamily="34" charset="-120"/>
              </a:rPr>
              <a:t>(keep figures at 300 dpi or higher)</a:t>
            </a:r>
            <a:endParaRPr lang="en-US" sz="2800" dirty="0"/>
          </a:p>
        </p:txBody>
      </p:sp>
      <p:sp>
        <p:nvSpPr>
          <p:cNvPr id="34" name="Shape 30"/>
          <p:cNvSpPr/>
          <p:nvPr/>
        </p:nvSpPr>
        <p:spPr>
          <a:xfrm>
            <a:off x="10671048" y="23500080"/>
            <a:ext cx="8933688" cy="16733520"/>
          </a:xfrm>
          <a:prstGeom prst="roundRect">
            <a:avLst>
              <a:gd name="adj" fmla="val 2047"/>
            </a:avLst>
          </a:prstGeom>
          <a:solidFill>
            <a:srgbClr val="FFFFFF"/>
          </a:solidFill>
          <a:ln w="25400">
            <a:solidFill>
              <a:srgbClr val="DBD3B9"/>
            </a:solidFill>
            <a:prstDash val="solid"/>
          </a:ln>
        </p:spPr>
      </p:sp>
      <p:sp>
        <p:nvSpPr>
          <p:cNvPr id="35" name="Shape 31"/>
          <p:cNvSpPr/>
          <p:nvPr/>
        </p:nvSpPr>
        <p:spPr>
          <a:xfrm>
            <a:off x="11128248" y="23911560"/>
            <a:ext cx="914400" cy="914400"/>
          </a:xfrm>
          <a:prstGeom prst="ellipse">
            <a:avLst/>
          </a:prstGeom>
          <a:solidFill>
            <a:srgbClr val="B08D45"/>
          </a:solidFill>
          <a:ln w="12700">
            <a:solidFill>
              <a:srgbClr val="B08D45"/>
            </a:solidFill>
            <a:prstDash val="solid"/>
          </a:ln>
        </p:spPr>
      </p:sp>
      <p:sp>
        <p:nvSpPr>
          <p:cNvPr id="36" name="Text 32"/>
          <p:cNvSpPr txBox="1"/>
          <p:nvPr/>
        </p:nvSpPr>
        <p:spPr>
          <a:xfrm>
            <a:off x="11128248" y="23911560"/>
            <a:ext cx="914400" cy="914400"/>
          </a:xfrm>
          <a:prstGeom prst="rect">
            <a:avLst/>
          </a:prstGeom>
          <a:noFill/>
          <a:ln/>
        </p:spPr>
        <p:txBody>
          <a:bodyPr wrap="square" lIns="0" tIns="0" rIns="0" bIns="0" rtlCol="0" anchor="ctr"/>
          <a:lstStyle/>
          <a:p>
            <a:pPr algn="ctr" indent="0" marL="0">
              <a:buNone/>
            </a:pPr>
            <a:r>
              <a:rPr lang="en-US" sz="3200" b="1" dirty="0">
                <a:solidFill>
                  <a:srgbClr val="14213D"/>
                </a:solidFill>
                <a:latin typeface="Cambria" pitchFamily="34" charset="0"/>
                <a:ea typeface="Cambria" pitchFamily="34" charset="-122"/>
                <a:cs typeface="Cambria" pitchFamily="34" charset="-120"/>
              </a:rPr>
              <a:t>5</a:t>
            </a:r>
            <a:endParaRPr lang="en-US" sz="3200" dirty="0"/>
          </a:p>
        </p:txBody>
      </p:sp>
      <p:sp>
        <p:nvSpPr>
          <p:cNvPr id="37" name="Text 33"/>
          <p:cNvSpPr txBox="1"/>
          <p:nvPr/>
        </p:nvSpPr>
        <p:spPr>
          <a:xfrm>
            <a:off x="12316968" y="23911560"/>
            <a:ext cx="6830568" cy="914400"/>
          </a:xfrm>
          <a:prstGeom prst="rect">
            <a:avLst/>
          </a:prstGeom>
          <a:noFill/>
          <a:ln/>
        </p:spPr>
        <p:txBody>
          <a:bodyPr wrap="square" lIns="0" tIns="0" rIns="0" bIns="0" rtlCol="0" anchor="ctr"/>
          <a:lstStyle/>
          <a:p>
            <a:pPr algn="l" indent="0" marL="0">
              <a:buNone/>
            </a:pPr>
            <a:r>
              <a:rPr lang="en-US" sz="4000" b="1" dirty="0">
                <a:solidFill>
                  <a:srgbClr val="14213D"/>
                </a:solidFill>
                <a:latin typeface="Cambria" pitchFamily="34" charset="0"/>
                <a:ea typeface="Cambria" pitchFamily="34" charset="-122"/>
                <a:cs typeface="Cambria" pitchFamily="34" charset="-120"/>
              </a:rPr>
              <a:t>Figures &amp; Tables</a:t>
            </a:r>
            <a:endParaRPr lang="en-US" sz="4000" dirty="0"/>
          </a:p>
        </p:txBody>
      </p:sp>
      <p:sp>
        <p:nvSpPr>
          <p:cNvPr id="38" name="Shape 34"/>
          <p:cNvSpPr/>
          <p:nvPr/>
        </p:nvSpPr>
        <p:spPr>
          <a:xfrm>
            <a:off x="11128248" y="25237440"/>
            <a:ext cx="8019288" cy="6766560"/>
          </a:xfrm>
          <a:prstGeom prst="rect">
            <a:avLst/>
          </a:prstGeom>
          <a:solidFill>
            <a:srgbClr val="F3EFE2"/>
          </a:solidFill>
          <a:ln w="31750">
            <a:solidFill>
              <a:srgbClr val="B08D45"/>
            </a:solidFill>
            <a:prstDash val="dash"/>
          </a:ln>
        </p:spPr>
      </p:sp>
      <p:sp>
        <p:nvSpPr>
          <p:cNvPr id="39" name="Text 35"/>
          <p:cNvSpPr txBox="1"/>
          <p:nvPr/>
        </p:nvSpPr>
        <p:spPr>
          <a:xfrm>
            <a:off x="11128248" y="25237440"/>
            <a:ext cx="8019288" cy="6766560"/>
          </a:xfrm>
          <a:prstGeom prst="rect">
            <a:avLst/>
          </a:prstGeom>
          <a:noFill/>
          <a:ln/>
        </p:spPr>
        <p:txBody>
          <a:bodyPr wrap="square" lIns="3810" tIns="3810" rIns="3810" bIns="3810" rtlCol="0" anchor="ctr"/>
          <a:lstStyle/>
          <a:p>
            <a:pPr algn="ctr" indent="0" marL="0">
              <a:buNone/>
            </a:pPr>
            <a:r>
              <a:rPr lang="en-US" sz="2800" i="1" dirty="0">
                <a:solidFill>
                  <a:srgbClr val="5B5747"/>
                </a:solidFill>
                <a:latin typeface="Calibri" pitchFamily="34" charset="0"/>
                <a:ea typeface="Calibri" pitchFamily="34" charset="-122"/>
                <a:cs typeface="Calibri" pitchFamily="34" charset="-120"/>
              </a:rPr>
              <a:t>Figure / Table 2</a:t>
            </a:r>
            <a:endParaRPr lang="en-US" sz="2800" dirty="0"/>
          </a:p>
          <a:p>
            <a:pPr algn="ctr" indent="0" marL="0">
              <a:buNone/>
            </a:pPr>
            <a:r>
              <a:rPr lang="en-US" sz="2800" i="1" dirty="0">
                <a:solidFill>
                  <a:srgbClr val="5B5747"/>
                </a:solidFill>
                <a:latin typeface="Calibri" pitchFamily="34" charset="0"/>
                <a:ea typeface="Calibri" pitchFamily="34" charset="-122"/>
                <a:cs typeface="Calibri" pitchFamily="34" charset="-120"/>
              </a:rPr>
              <a:t>Caption goes here</a:t>
            </a:r>
            <a:endParaRPr lang="en-US" sz="2800" dirty="0"/>
          </a:p>
        </p:txBody>
      </p:sp>
      <p:sp>
        <p:nvSpPr>
          <p:cNvPr id="40" name="Shape 36"/>
          <p:cNvSpPr/>
          <p:nvPr/>
        </p:nvSpPr>
        <p:spPr>
          <a:xfrm>
            <a:off x="11128248" y="32461200"/>
            <a:ext cx="8019288" cy="6766560"/>
          </a:xfrm>
          <a:prstGeom prst="rect">
            <a:avLst/>
          </a:prstGeom>
          <a:solidFill>
            <a:srgbClr val="F3EFE2"/>
          </a:solidFill>
          <a:ln w="31750">
            <a:solidFill>
              <a:srgbClr val="B08D45"/>
            </a:solidFill>
            <a:prstDash val="dash"/>
          </a:ln>
        </p:spPr>
      </p:sp>
      <p:sp>
        <p:nvSpPr>
          <p:cNvPr id="41" name="Text 37"/>
          <p:cNvSpPr txBox="1"/>
          <p:nvPr/>
        </p:nvSpPr>
        <p:spPr>
          <a:xfrm>
            <a:off x="11128248" y="32461200"/>
            <a:ext cx="8019288" cy="6766560"/>
          </a:xfrm>
          <a:prstGeom prst="rect">
            <a:avLst/>
          </a:prstGeom>
          <a:noFill/>
          <a:ln/>
        </p:spPr>
        <p:txBody>
          <a:bodyPr wrap="square" lIns="3810" tIns="3810" rIns="3810" bIns="3810" rtlCol="0" anchor="ctr"/>
          <a:lstStyle/>
          <a:p>
            <a:pPr algn="ctr" indent="0" marL="0">
              <a:buNone/>
            </a:pPr>
            <a:r>
              <a:rPr lang="en-US" sz="2800" i="1" dirty="0">
                <a:solidFill>
                  <a:srgbClr val="5B5747"/>
                </a:solidFill>
                <a:latin typeface="Calibri" pitchFamily="34" charset="0"/>
                <a:ea typeface="Calibri" pitchFamily="34" charset="-122"/>
                <a:cs typeface="Calibri" pitchFamily="34" charset="-120"/>
              </a:rPr>
              <a:t>Figure / Table 3</a:t>
            </a:r>
            <a:endParaRPr lang="en-US" sz="2800" dirty="0"/>
          </a:p>
          <a:p>
            <a:pPr algn="ctr" indent="0" marL="0">
              <a:buNone/>
            </a:pPr>
            <a:r>
              <a:rPr lang="en-US" sz="2800" i="1" dirty="0">
                <a:solidFill>
                  <a:srgbClr val="5B5747"/>
                </a:solidFill>
                <a:latin typeface="Calibri" pitchFamily="34" charset="0"/>
                <a:ea typeface="Calibri" pitchFamily="34" charset="-122"/>
                <a:cs typeface="Calibri" pitchFamily="34" charset="-120"/>
              </a:rPr>
              <a:t>Caption goes here</a:t>
            </a:r>
            <a:endParaRPr lang="en-US" sz="2800" dirty="0"/>
          </a:p>
        </p:txBody>
      </p:sp>
      <p:sp>
        <p:nvSpPr>
          <p:cNvPr id="42" name="Shape 38"/>
          <p:cNvSpPr/>
          <p:nvPr/>
        </p:nvSpPr>
        <p:spPr>
          <a:xfrm>
            <a:off x="20244816" y="6126480"/>
            <a:ext cx="8933688" cy="11887200"/>
          </a:xfrm>
          <a:prstGeom prst="roundRect">
            <a:avLst>
              <a:gd name="adj" fmla="val 2047"/>
            </a:avLst>
          </a:prstGeom>
          <a:solidFill>
            <a:srgbClr val="FFFFFF"/>
          </a:solidFill>
          <a:ln w="25400">
            <a:solidFill>
              <a:srgbClr val="DBD3B9"/>
            </a:solidFill>
            <a:prstDash val="solid"/>
          </a:ln>
        </p:spPr>
      </p:sp>
      <p:sp>
        <p:nvSpPr>
          <p:cNvPr id="43" name="Shape 39"/>
          <p:cNvSpPr/>
          <p:nvPr/>
        </p:nvSpPr>
        <p:spPr>
          <a:xfrm>
            <a:off x="20702016" y="6537960"/>
            <a:ext cx="914400" cy="914400"/>
          </a:xfrm>
          <a:prstGeom prst="ellipse">
            <a:avLst/>
          </a:prstGeom>
          <a:solidFill>
            <a:srgbClr val="B08D45"/>
          </a:solidFill>
          <a:ln w="12700">
            <a:solidFill>
              <a:srgbClr val="B08D45"/>
            </a:solidFill>
            <a:prstDash val="solid"/>
          </a:ln>
        </p:spPr>
      </p:sp>
      <p:sp>
        <p:nvSpPr>
          <p:cNvPr id="44" name="Text 40"/>
          <p:cNvSpPr txBox="1"/>
          <p:nvPr/>
        </p:nvSpPr>
        <p:spPr>
          <a:xfrm>
            <a:off x="20702016" y="6537960"/>
            <a:ext cx="914400" cy="914400"/>
          </a:xfrm>
          <a:prstGeom prst="rect">
            <a:avLst/>
          </a:prstGeom>
          <a:noFill/>
          <a:ln/>
        </p:spPr>
        <p:txBody>
          <a:bodyPr wrap="square" lIns="0" tIns="0" rIns="0" bIns="0" rtlCol="0" anchor="ctr"/>
          <a:lstStyle/>
          <a:p>
            <a:pPr algn="ctr" indent="0" marL="0">
              <a:buNone/>
            </a:pPr>
            <a:r>
              <a:rPr lang="en-US" sz="3200" b="1" dirty="0">
                <a:solidFill>
                  <a:srgbClr val="14213D"/>
                </a:solidFill>
                <a:latin typeface="Cambria" pitchFamily="34" charset="0"/>
                <a:ea typeface="Cambria" pitchFamily="34" charset="-122"/>
                <a:cs typeface="Cambria" pitchFamily="34" charset="-120"/>
              </a:rPr>
              <a:t>6</a:t>
            </a:r>
            <a:endParaRPr lang="en-US" sz="3200" dirty="0"/>
          </a:p>
        </p:txBody>
      </p:sp>
      <p:sp>
        <p:nvSpPr>
          <p:cNvPr id="45" name="Text 41"/>
          <p:cNvSpPr txBox="1"/>
          <p:nvPr/>
        </p:nvSpPr>
        <p:spPr>
          <a:xfrm>
            <a:off x="21890736" y="6537960"/>
            <a:ext cx="6830568" cy="914400"/>
          </a:xfrm>
          <a:prstGeom prst="rect">
            <a:avLst/>
          </a:prstGeom>
          <a:noFill/>
          <a:ln/>
        </p:spPr>
        <p:txBody>
          <a:bodyPr wrap="square" lIns="0" tIns="0" rIns="0" bIns="0" rtlCol="0" anchor="ctr"/>
          <a:lstStyle/>
          <a:p>
            <a:pPr algn="l" indent="0" marL="0">
              <a:buNone/>
            </a:pPr>
            <a:r>
              <a:rPr lang="en-US" sz="4000" b="1" dirty="0">
                <a:solidFill>
                  <a:srgbClr val="14213D"/>
                </a:solidFill>
                <a:latin typeface="Cambria" pitchFamily="34" charset="0"/>
                <a:ea typeface="Cambria" pitchFamily="34" charset="-122"/>
                <a:cs typeface="Cambria" pitchFamily="34" charset="-120"/>
              </a:rPr>
              <a:t>Conclusions</a:t>
            </a:r>
            <a:endParaRPr lang="en-US" sz="4000" dirty="0"/>
          </a:p>
        </p:txBody>
      </p:sp>
      <p:sp>
        <p:nvSpPr>
          <p:cNvPr id="46" name="Text 42"/>
          <p:cNvSpPr txBox="1"/>
          <p:nvPr/>
        </p:nvSpPr>
        <p:spPr>
          <a:xfrm>
            <a:off x="20702016" y="7863840"/>
            <a:ext cx="8019288" cy="9601200"/>
          </a:xfrm>
          <a:prstGeom prst="rect">
            <a:avLst/>
          </a:prstGeom>
          <a:noFill/>
          <a:ln/>
        </p:spPr>
        <p:txBody>
          <a:bodyPr wrap="square" lIns="0" tIns="0" rIns="0" bIns="0" rtlCol="0" anchor="t"/>
          <a:lstStyle/>
          <a:p>
            <a:pPr algn="l" marL="342900" indent="-342900">
              <a:spcAft>
                <a:spcPts val="1000"/>
              </a:spcAft>
              <a:buSzPct val="100000"/>
              <a:buChar char="•"/>
            </a:pPr>
            <a:r>
              <a:rPr lang="en-US" sz="2800" dirty="0">
                <a:solidFill>
                  <a:srgbClr val="5B5747"/>
                </a:solidFill>
                <a:latin typeface="Calibri" pitchFamily="34" charset="0"/>
                <a:ea typeface="Calibri" pitchFamily="34" charset="-122"/>
                <a:cs typeface="Calibri" pitchFamily="34" charset="-120"/>
              </a:rPr>
              <a:t>Main conclusion in one sentence</a:t>
            </a:r>
            <a:endParaRPr lang="en-US" sz="2800" dirty="0"/>
          </a:p>
          <a:p>
            <a:pPr algn="l" marL="342900" indent="-342900">
              <a:spcAft>
                <a:spcPts val="1000"/>
              </a:spcAft>
              <a:buSzPct val="100000"/>
              <a:buChar char="•"/>
            </a:pPr>
            <a:r>
              <a:rPr lang="en-US" sz="2800" dirty="0">
                <a:solidFill>
                  <a:srgbClr val="5B5747"/>
                </a:solidFill>
                <a:latin typeface="Calibri" pitchFamily="34" charset="0"/>
                <a:ea typeface="Calibri" pitchFamily="34" charset="-122"/>
                <a:cs typeface="Calibri" pitchFamily="34" charset="-120"/>
              </a:rPr>
              <a:t>Key advantage or novelty of the approach</a:t>
            </a:r>
            <a:endParaRPr lang="en-US" sz="2800" dirty="0"/>
          </a:p>
          <a:p>
            <a:pPr algn="l" marL="342900" indent="-342900">
              <a:spcAft>
                <a:spcPts val="1000"/>
              </a:spcAft>
              <a:buSzPct val="100000"/>
              <a:buChar char="•"/>
            </a:pPr>
            <a:r>
              <a:rPr lang="en-US" sz="2800" dirty="0">
                <a:solidFill>
                  <a:srgbClr val="5B5747"/>
                </a:solidFill>
                <a:latin typeface="Calibri" pitchFamily="34" charset="0"/>
                <a:ea typeface="Calibri" pitchFamily="34" charset="-122"/>
                <a:cs typeface="Calibri" pitchFamily="34" charset="-120"/>
              </a:rPr>
              <a:t>Limitations, if any</a:t>
            </a:r>
            <a:endParaRPr lang="en-US" sz="2800" dirty="0"/>
          </a:p>
          <a:p>
            <a:pPr algn="l" marL="342900" indent="-342900">
              <a:spcAft>
                <a:spcPts val="1000"/>
              </a:spcAft>
              <a:buSzPct val="100000"/>
              <a:buChar char="•"/>
            </a:pPr>
            <a:r>
              <a:rPr lang="en-US" sz="2800" dirty="0">
                <a:solidFill>
                  <a:srgbClr val="5B5747"/>
                </a:solidFill>
                <a:latin typeface="Calibri" pitchFamily="34" charset="0"/>
                <a:ea typeface="Calibri" pitchFamily="34" charset="-122"/>
                <a:cs typeface="Calibri" pitchFamily="34" charset="-120"/>
              </a:rPr>
              <a:t>Future work</a:t>
            </a:r>
            <a:endParaRPr lang="en-US" sz="2800" dirty="0"/>
          </a:p>
        </p:txBody>
      </p:sp>
      <p:sp>
        <p:nvSpPr>
          <p:cNvPr id="47" name="Shape 43"/>
          <p:cNvSpPr/>
          <p:nvPr/>
        </p:nvSpPr>
        <p:spPr>
          <a:xfrm>
            <a:off x="20244816" y="18653760"/>
            <a:ext cx="8933688" cy="10972800"/>
          </a:xfrm>
          <a:prstGeom prst="roundRect">
            <a:avLst>
              <a:gd name="adj" fmla="val 2047"/>
            </a:avLst>
          </a:prstGeom>
          <a:solidFill>
            <a:srgbClr val="FFFFFF"/>
          </a:solidFill>
          <a:ln w="25400">
            <a:solidFill>
              <a:srgbClr val="DBD3B9"/>
            </a:solidFill>
            <a:prstDash val="solid"/>
          </a:ln>
        </p:spPr>
      </p:sp>
      <p:sp>
        <p:nvSpPr>
          <p:cNvPr id="48" name="Shape 44"/>
          <p:cNvSpPr/>
          <p:nvPr/>
        </p:nvSpPr>
        <p:spPr>
          <a:xfrm>
            <a:off x="20702016" y="19065240"/>
            <a:ext cx="914400" cy="914400"/>
          </a:xfrm>
          <a:prstGeom prst="ellipse">
            <a:avLst/>
          </a:prstGeom>
          <a:solidFill>
            <a:srgbClr val="B08D45"/>
          </a:solidFill>
          <a:ln w="12700">
            <a:solidFill>
              <a:srgbClr val="B08D45"/>
            </a:solidFill>
            <a:prstDash val="solid"/>
          </a:ln>
        </p:spPr>
      </p:sp>
      <p:sp>
        <p:nvSpPr>
          <p:cNvPr id="49" name="Text 45"/>
          <p:cNvSpPr txBox="1"/>
          <p:nvPr/>
        </p:nvSpPr>
        <p:spPr>
          <a:xfrm>
            <a:off x="20702016" y="19065240"/>
            <a:ext cx="914400" cy="914400"/>
          </a:xfrm>
          <a:prstGeom prst="rect">
            <a:avLst/>
          </a:prstGeom>
          <a:noFill/>
          <a:ln/>
        </p:spPr>
        <p:txBody>
          <a:bodyPr wrap="square" lIns="0" tIns="0" rIns="0" bIns="0" rtlCol="0" anchor="ctr"/>
          <a:lstStyle/>
          <a:p>
            <a:pPr algn="ctr" indent="0" marL="0">
              <a:buNone/>
            </a:pPr>
            <a:r>
              <a:rPr lang="en-US" sz="3200" b="1" dirty="0">
                <a:solidFill>
                  <a:srgbClr val="14213D"/>
                </a:solidFill>
                <a:latin typeface="Cambria" pitchFamily="34" charset="0"/>
                <a:ea typeface="Cambria" pitchFamily="34" charset="-122"/>
                <a:cs typeface="Cambria" pitchFamily="34" charset="-120"/>
              </a:rPr>
              <a:t>7</a:t>
            </a:r>
            <a:endParaRPr lang="en-US" sz="3200" dirty="0"/>
          </a:p>
        </p:txBody>
      </p:sp>
      <p:sp>
        <p:nvSpPr>
          <p:cNvPr id="50" name="Text 46"/>
          <p:cNvSpPr txBox="1"/>
          <p:nvPr/>
        </p:nvSpPr>
        <p:spPr>
          <a:xfrm>
            <a:off x="21890736" y="19065240"/>
            <a:ext cx="6830568" cy="914400"/>
          </a:xfrm>
          <a:prstGeom prst="rect">
            <a:avLst/>
          </a:prstGeom>
          <a:noFill/>
          <a:ln/>
        </p:spPr>
        <p:txBody>
          <a:bodyPr wrap="square" lIns="0" tIns="0" rIns="0" bIns="0" rtlCol="0" anchor="ctr"/>
          <a:lstStyle/>
          <a:p>
            <a:pPr algn="l" indent="0" marL="0">
              <a:buNone/>
            </a:pPr>
            <a:r>
              <a:rPr lang="en-US" sz="4000" b="1" dirty="0">
                <a:solidFill>
                  <a:srgbClr val="14213D"/>
                </a:solidFill>
                <a:latin typeface="Cambria" pitchFamily="34" charset="0"/>
                <a:ea typeface="Cambria" pitchFamily="34" charset="-122"/>
                <a:cs typeface="Cambria" pitchFamily="34" charset="-120"/>
              </a:rPr>
              <a:t>References</a:t>
            </a:r>
            <a:endParaRPr lang="en-US" sz="4000" dirty="0"/>
          </a:p>
        </p:txBody>
      </p:sp>
      <p:sp>
        <p:nvSpPr>
          <p:cNvPr id="51" name="Text 47"/>
          <p:cNvSpPr txBox="1"/>
          <p:nvPr/>
        </p:nvSpPr>
        <p:spPr>
          <a:xfrm>
            <a:off x="20702016" y="20391120"/>
            <a:ext cx="8019288" cy="8778240"/>
          </a:xfrm>
          <a:prstGeom prst="rect">
            <a:avLst/>
          </a:prstGeom>
          <a:noFill/>
          <a:ln/>
        </p:spPr>
        <p:txBody>
          <a:bodyPr wrap="square" lIns="0" tIns="0" rIns="0" bIns="0" rtlCol="0" anchor="t"/>
          <a:lstStyle/>
          <a:p>
            <a:pPr algn="l" indent="0" marL="0">
              <a:spcAft>
                <a:spcPts val="1000"/>
              </a:spcAft>
              <a:buNone/>
            </a:pPr>
            <a:r>
              <a:rPr lang="en-US" sz="2400" dirty="0">
                <a:solidFill>
                  <a:srgbClr val="5B5747"/>
                </a:solidFill>
                <a:latin typeface="Calibri" pitchFamily="34" charset="0"/>
                <a:ea typeface="Calibri" pitchFamily="34" charset="-122"/>
                <a:cs typeface="Calibri" pitchFamily="34" charset="-120"/>
              </a:rPr>
              <a:t>[1] Author A., Author B., Title of paper, Journal, Vol. (Year) pages.</a:t>
            </a:r>
            <a:endParaRPr lang="en-US" sz="2400" dirty="0"/>
          </a:p>
          <a:p>
            <a:pPr algn="l" indent="0" marL="0">
              <a:spcAft>
                <a:spcPts val="1000"/>
              </a:spcAft>
              <a:buNone/>
            </a:pPr>
            <a:r>
              <a:rPr lang="en-US" sz="2400" dirty="0">
                <a:solidFill>
                  <a:srgbClr val="5B5747"/>
                </a:solidFill>
                <a:latin typeface="Calibri" pitchFamily="34" charset="0"/>
                <a:ea typeface="Calibri" pitchFamily="34" charset="-122"/>
                <a:cs typeface="Calibri" pitchFamily="34" charset="-120"/>
              </a:rPr>
              <a:t>[2] Author C., Title of book, Publisher, Year.</a:t>
            </a:r>
            <a:endParaRPr lang="en-US" sz="2400" dirty="0"/>
          </a:p>
          <a:p>
            <a:pPr algn="l" indent="0" marL="0">
              <a:buNone/>
            </a:pPr>
            <a:r>
              <a:rPr lang="en-US" sz="2400" dirty="0">
                <a:solidFill>
                  <a:srgbClr val="5B5747"/>
                </a:solidFill>
                <a:latin typeface="Calibri" pitchFamily="34" charset="0"/>
                <a:ea typeface="Calibri" pitchFamily="34" charset="-122"/>
                <a:cs typeface="Calibri" pitchFamily="34" charset="-120"/>
              </a:rPr>
              <a:t>[3] Author D., Title of paper, Journal, Vol. (Year) pages.</a:t>
            </a:r>
            <a:endParaRPr lang="en-US" sz="2400" dirty="0"/>
          </a:p>
        </p:txBody>
      </p:sp>
      <p:sp>
        <p:nvSpPr>
          <p:cNvPr id="52" name="Shape 48"/>
          <p:cNvSpPr/>
          <p:nvPr/>
        </p:nvSpPr>
        <p:spPr>
          <a:xfrm>
            <a:off x="20244816" y="30266640"/>
            <a:ext cx="8933688" cy="9966960"/>
          </a:xfrm>
          <a:prstGeom prst="roundRect">
            <a:avLst>
              <a:gd name="adj" fmla="val 2047"/>
            </a:avLst>
          </a:prstGeom>
          <a:solidFill>
            <a:srgbClr val="FFFFFF"/>
          </a:solidFill>
          <a:ln w="25400">
            <a:solidFill>
              <a:srgbClr val="DBD3B9"/>
            </a:solidFill>
            <a:prstDash val="solid"/>
          </a:ln>
        </p:spPr>
      </p:sp>
      <p:sp>
        <p:nvSpPr>
          <p:cNvPr id="53" name="Shape 49"/>
          <p:cNvSpPr/>
          <p:nvPr/>
        </p:nvSpPr>
        <p:spPr>
          <a:xfrm>
            <a:off x="20702016" y="30678120"/>
            <a:ext cx="914400" cy="914400"/>
          </a:xfrm>
          <a:prstGeom prst="ellipse">
            <a:avLst/>
          </a:prstGeom>
          <a:solidFill>
            <a:srgbClr val="B08D45"/>
          </a:solidFill>
          <a:ln w="12700">
            <a:solidFill>
              <a:srgbClr val="B08D45"/>
            </a:solidFill>
            <a:prstDash val="solid"/>
          </a:ln>
        </p:spPr>
      </p:sp>
      <p:sp>
        <p:nvSpPr>
          <p:cNvPr id="54" name="Text 50"/>
          <p:cNvSpPr txBox="1"/>
          <p:nvPr/>
        </p:nvSpPr>
        <p:spPr>
          <a:xfrm>
            <a:off x="20702016" y="30678120"/>
            <a:ext cx="914400" cy="914400"/>
          </a:xfrm>
          <a:prstGeom prst="rect">
            <a:avLst/>
          </a:prstGeom>
          <a:noFill/>
          <a:ln/>
        </p:spPr>
        <p:txBody>
          <a:bodyPr wrap="square" lIns="0" tIns="0" rIns="0" bIns="0" rtlCol="0" anchor="ctr"/>
          <a:lstStyle/>
          <a:p>
            <a:pPr algn="ctr" indent="0" marL="0">
              <a:buNone/>
            </a:pPr>
            <a:r>
              <a:rPr lang="en-US" sz="3200" b="1" dirty="0">
                <a:solidFill>
                  <a:srgbClr val="14213D"/>
                </a:solidFill>
                <a:latin typeface="Cambria" pitchFamily="34" charset="0"/>
                <a:ea typeface="Cambria" pitchFamily="34" charset="-122"/>
                <a:cs typeface="Cambria" pitchFamily="34" charset="-120"/>
              </a:rPr>
              <a:t>8</a:t>
            </a:r>
            <a:endParaRPr lang="en-US" sz="3200" dirty="0"/>
          </a:p>
        </p:txBody>
      </p:sp>
      <p:sp>
        <p:nvSpPr>
          <p:cNvPr id="55" name="Text 51"/>
          <p:cNvSpPr txBox="1"/>
          <p:nvPr/>
        </p:nvSpPr>
        <p:spPr>
          <a:xfrm>
            <a:off x="21890736" y="30678120"/>
            <a:ext cx="6830568" cy="914400"/>
          </a:xfrm>
          <a:prstGeom prst="rect">
            <a:avLst/>
          </a:prstGeom>
          <a:noFill/>
          <a:ln/>
        </p:spPr>
        <p:txBody>
          <a:bodyPr wrap="square" lIns="0" tIns="0" rIns="0" bIns="0" rtlCol="0" anchor="ctr"/>
          <a:lstStyle/>
          <a:p>
            <a:pPr algn="l" indent="0" marL="0">
              <a:buNone/>
            </a:pPr>
            <a:r>
              <a:rPr lang="en-US" sz="4000" b="1" dirty="0">
                <a:solidFill>
                  <a:srgbClr val="14213D"/>
                </a:solidFill>
                <a:latin typeface="Cambria" pitchFamily="34" charset="0"/>
                <a:ea typeface="Cambria" pitchFamily="34" charset="-122"/>
                <a:cs typeface="Cambria" pitchFamily="34" charset="-120"/>
              </a:rPr>
              <a:t>Acknowledgements</a:t>
            </a:r>
            <a:endParaRPr lang="en-US" sz="4000" dirty="0"/>
          </a:p>
        </p:txBody>
      </p:sp>
      <p:sp>
        <p:nvSpPr>
          <p:cNvPr id="56" name="Text 52"/>
          <p:cNvSpPr txBox="1"/>
          <p:nvPr/>
        </p:nvSpPr>
        <p:spPr>
          <a:xfrm>
            <a:off x="20702016" y="32004000"/>
            <a:ext cx="4114800" cy="7680960"/>
          </a:xfrm>
          <a:prstGeom prst="rect">
            <a:avLst/>
          </a:prstGeom>
          <a:noFill/>
          <a:ln/>
        </p:spPr>
        <p:txBody>
          <a:bodyPr wrap="square" lIns="0" tIns="0" rIns="0" bIns="0" rtlCol="0" anchor="t"/>
          <a:lstStyle/>
          <a:p>
            <a:pPr algn="l" indent="0" marL="0">
              <a:buNone/>
            </a:pPr>
            <a:r>
              <a:rPr lang="en-US" sz="2600" dirty="0">
                <a:solidFill>
                  <a:srgbClr val="5B5747"/>
                </a:solidFill>
                <a:latin typeface="Calibri" pitchFamily="34" charset="0"/>
                <a:ea typeface="Calibri" pitchFamily="34" charset="-122"/>
                <a:cs typeface="Calibri" pitchFamily="34" charset="-120"/>
              </a:rPr>
              <a:t>Funding agency, supervisor or institution.</a:t>
            </a:r>
            <a:endParaRPr lang="en-US" sz="2600" dirty="0"/>
          </a:p>
          <a:p>
            <a:pPr algn="l" indent="0" marL="0">
              <a:buNone/>
            </a:pPr>
            <a:endParaRPr lang="en-US" sz="2600" dirty="0"/>
          </a:p>
          <a:p>
            <a:pPr algn="l" indent="0" marL="0">
              <a:buNone/>
            </a:pPr>
            <a:r>
              <a:rPr lang="en-US" sz="2600" dirty="0">
                <a:solidFill>
                  <a:srgbClr val="5B5747"/>
                </a:solidFill>
                <a:latin typeface="Calibri" pitchFamily="34" charset="0"/>
                <a:ea typeface="Calibri" pitchFamily="34" charset="-122"/>
                <a:cs typeface="Calibri" pitchFamily="34" charset="-120"/>
              </a:rPr>
              <a:t>Presenter: Name</a:t>
            </a:r>
            <a:endParaRPr lang="en-US" sz="2600" dirty="0"/>
          </a:p>
          <a:p>
            <a:pPr algn="l" indent="0" marL="0">
              <a:buNone/>
            </a:pPr>
            <a:r>
              <a:rPr lang="en-US" sz="2600" dirty="0">
                <a:solidFill>
                  <a:srgbClr val="5B5747"/>
                </a:solidFill>
                <a:latin typeface="Calibri" pitchFamily="34" charset="0"/>
                <a:ea typeface="Calibri" pitchFamily="34" charset="-122"/>
                <a:cs typeface="Calibri" pitchFamily="34" charset="-120"/>
              </a:rPr>
              <a:t>Email: name@email.com</a:t>
            </a:r>
            <a:endParaRPr lang="en-US" sz="2600" dirty="0"/>
          </a:p>
        </p:txBody>
      </p:sp>
      <p:sp>
        <p:nvSpPr>
          <p:cNvPr id="57" name="Shape 53"/>
          <p:cNvSpPr/>
          <p:nvPr/>
        </p:nvSpPr>
        <p:spPr>
          <a:xfrm>
            <a:off x="24999696" y="32004000"/>
            <a:ext cx="3721608" cy="3721608"/>
          </a:xfrm>
          <a:prstGeom prst="rect">
            <a:avLst/>
          </a:prstGeom>
          <a:solidFill>
            <a:srgbClr val="F3EFE2"/>
          </a:solidFill>
          <a:ln w="31750">
            <a:solidFill>
              <a:srgbClr val="B08D45"/>
            </a:solidFill>
            <a:prstDash val="dash"/>
          </a:ln>
        </p:spPr>
      </p:sp>
      <p:sp>
        <p:nvSpPr>
          <p:cNvPr id="58" name="Text 54"/>
          <p:cNvSpPr txBox="1"/>
          <p:nvPr/>
        </p:nvSpPr>
        <p:spPr>
          <a:xfrm>
            <a:off x="24999696" y="32004000"/>
            <a:ext cx="3721608" cy="3721608"/>
          </a:xfrm>
          <a:prstGeom prst="rect">
            <a:avLst/>
          </a:prstGeom>
          <a:noFill/>
          <a:ln/>
        </p:spPr>
        <p:txBody>
          <a:bodyPr wrap="square" lIns="3810" tIns="3810" rIns="3810" bIns="3810" rtlCol="0" anchor="ctr"/>
          <a:lstStyle/>
          <a:p>
            <a:pPr algn="ctr" indent="0" marL="0">
              <a:buNone/>
            </a:pPr>
            <a:r>
              <a:rPr lang="en-US" sz="2800" i="1" dirty="0">
                <a:solidFill>
                  <a:srgbClr val="5B5747"/>
                </a:solidFill>
                <a:latin typeface="Calibri" pitchFamily="34" charset="0"/>
                <a:ea typeface="Calibri" pitchFamily="34" charset="-122"/>
                <a:cs typeface="Calibri" pitchFamily="34" charset="-120"/>
              </a:rPr>
              <a:t>QR code</a:t>
            </a:r>
            <a:endParaRPr lang="en-US" sz="2800" dirty="0"/>
          </a:p>
          <a:p>
            <a:pPr algn="ctr" indent="0" marL="0">
              <a:buNone/>
            </a:pPr>
            <a:r>
              <a:rPr lang="en-US" sz="2800" i="1" dirty="0">
                <a:solidFill>
                  <a:srgbClr val="5B5747"/>
                </a:solidFill>
                <a:latin typeface="Calibri" pitchFamily="34" charset="0"/>
                <a:ea typeface="Calibri" pitchFamily="34" charset="-122"/>
                <a:cs typeface="Calibri" pitchFamily="34" charset="-120"/>
              </a:rPr>
              <a:t>(optional)</a:t>
            </a:r>
            <a:endParaRPr lang="en-US" sz="2800" dirty="0"/>
          </a:p>
        </p:txBody>
      </p:sp>
      <p:sp>
        <p:nvSpPr>
          <p:cNvPr id="59" name="Shape 55"/>
          <p:cNvSpPr/>
          <p:nvPr/>
        </p:nvSpPr>
        <p:spPr>
          <a:xfrm>
            <a:off x="0" y="40507920"/>
            <a:ext cx="30275784" cy="2295144"/>
          </a:xfrm>
          <a:prstGeom prst="rect">
            <a:avLst/>
          </a:prstGeom>
          <a:solidFill>
            <a:srgbClr val="14213D"/>
          </a:solidFill>
          <a:ln w="12700">
            <a:solidFill>
              <a:srgbClr val="14213D"/>
            </a:solidFill>
            <a:prstDash val="solid"/>
          </a:ln>
        </p:spPr>
      </p:sp>
      <p:sp>
        <p:nvSpPr>
          <p:cNvPr id="60" name="Text 56"/>
          <p:cNvSpPr txBox="1"/>
          <p:nvPr/>
        </p:nvSpPr>
        <p:spPr>
          <a:xfrm>
            <a:off x="1097280" y="40507920"/>
            <a:ext cx="5486400" cy="2295144"/>
          </a:xfrm>
          <a:prstGeom prst="rect">
            <a:avLst/>
          </a:prstGeom>
          <a:noFill/>
          <a:ln/>
        </p:spPr>
        <p:txBody>
          <a:bodyPr wrap="square" lIns="0" tIns="0" rIns="0" bIns="0" rtlCol="0" anchor="ctr"/>
          <a:lstStyle/>
          <a:p>
            <a:pPr algn="l" indent="0" marL="0">
              <a:buNone/>
            </a:pPr>
            <a:r>
              <a:rPr lang="en-US" sz="2800" dirty="0">
                <a:solidFill>
                  <a:srgbClr val="D4B96A"/>
                </a:solidFill>
                <a:latin typeface="Courier New" pitchFamily="34" charset="0"/>
                <a:ea typeface="Courier New" pitchFamily="34" charset="-122"/>
                <a:cs typeface="Courier New" pitchFamily="34" charset="-120"/>
              </a:rPr>
              <a:t>rama2026.org</a:t>
            </a:r>
            <a:endParaRPr lang="en-US" sz="2800" dirty="0"/>
          </a:p>
        </p:txBody>
      </p:sp>
      <p:sp>
        <p:nvSpPr>
          <p:cNvPr id="61" name="Text 57"/>
          <p:cNvSpPr txBox="1"/>
          <p:nvPr/>
        </p:nvSpPr>
        <p:spPr>
          <a:xfrm>
            <a:off x="6766560" y="40507920"/>
            <a:ext cx="16733520" cy="2295144"/>
          </a:xfrm>
          <a:prstGeom prst="rect">
            <a:avLst/>
          </a:prstGeom>
          <a:noFill/>
          <a:ln/>
        </p:spPr>
        <p:txBody>
          <a:bodyPr wrap="square" lIns="0" tIns="0" rIns="0" bIns="0" rtlCol="0" anchor="ctr"/>
          <a:lstStyle/>
          <a:p>
            <a:pPr algn="ctr" indent="0" marL="0">
              <a:buNone/>
            </a:pPr>
            <a:r>
              <a:rPr lang="en-US" sz="2800" b="1" dirty="0">
                <a:solidFill>
                  <a:srgbClr val="F3EFE2"/>
                </a:solidFill>
                <a:latin typeface="Calibri" pitchFamily="34" charset="0"/>
                <a:ea typeface="Calibri" pitchFamily="34" charset="-122"/>
                <a:cs typeface="Calibri" pitchFamily="34" charset="-120"/>
              </a:rPr>
              <a:t>International Conference on Recent Advances in Mathematics &amp; Applications</a:t>
            </a:r>
            <a:endParaRPr lang="en-US" sz="2800" dirty="0"/>
          </a:p>
          <a:p>
            <a:pPr algn="ctr" indent="0" marL="0">
              <a:buNone/>
            </a:pPr>
            <a:r>
              <a:rPr lang="en-US" sz="2800" dirty="0">
                <a:solidFill>
                  <a:srgbClr val="F3EFE2"/>
                </a:solidFill>
                <a:latin typeface="Calibri" pitchFamily="34" charset="0"/>
                <a:ea typeface="Calibri" pitchFamily="34" charset="-122"/>
                <a:cs typeface="Calibri" pitchFamily="34" charset="-120"/>
              </a:rPr>
              <a:t>December 22–24, 2026  ·  NSUT, New Delhi</a:t>
            </a:r>
            <a:endParaRPr lang="en-US" sz="2800" dirty="0"/>
          </a:p>
        </p:txBody>
      </p:sp>
      <p:sp>
        <p:nvSpPr>
          <p:cNvPr id="62" name="Text 58"/>
          <p:cNvSpPr txBox="1"/>
          <p:nvPr/>
        </p:nvSpPr>
        <p:spPr>
          <a:xfrm>
            <a:off x="23682960" y="40507920"/>
            <a:ext cx="5486400" cy="2295144"/>
          </a:xfrm>
          <a:prstGeom prst="rect">
            <a:avLst/>
          </a:prstGeom>
          <a:noFill/>
          <a:ln/>
        </p:spPr>
        <p:txBody>
          <a:bodyPr wrap="square" lIns="0" tIns="0" rIns="0" bIns="0" rtlCol="0" anchor="ctr"/>
          <a:lstStyle/>
          <a:p>
            <a:pPr algn="r" indent="0" marL="0">
              <a:buNone/>
            </a:pPr>
            <a:r>
              <a:rPr lang="en-US" sz="2800" dirty="0">
                <a:solidFill>
                  <a:srgbClr val="D4B96A"/>
                </a:solidFill>
                <a:latin typeface="Courier New" pitchFamily="34" charset="0"/>
                <a:ea typeface="Courier New" pitchFamily="34" charset="-122"/>
                <a:cs typeface="Courier New" pitchFamily="34" charset="-120"/>
              </a:rPr>
              <a:t>rama2026@nsut.ac.in</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RAM&amp;A 2026 Poster Template (A0 Portrait)</dc:title>
  <dc:subject>PptxGenJS Presentation</dc:subject>
  <dc:creator>PptxGenJS</dc:creator>
  <cp:lastModifiedBy>PptxGenJS</cp:lastModifiedBy>
  <cp:revision>1</cp:revision>
  <dcterms:created xsi:type="dcterms:W3CDTF">2026-09-30T16:50:56Z</dcterms:created>
  <dcterms:modified xsi:type="dcterms:W3CDTF">2026-09-30T16:50:56Z</dcterms:modified>
</cp:coreProperties>
</file>